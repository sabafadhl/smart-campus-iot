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389120"/>
            <a:ext cx="12188952" cy="73152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280160"/>
            <a:ext cx="103601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FFFFFF"/>
                </a:solidFill>
              </a:rPr>
              <a:t>Smart Campus IoT
Simulation &amp; Analytics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383280"/>
            <a:ext cx="1036015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BDD7EE"/>
                </a:solidFill>
              </a:rPr>
              <a:t>Internet of Things Course Project  |  Master of IT
Sana'a University  |  Dr. Ammar Zahary  |  July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937760"/>
            <a:ext cx="103601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</a:rPr>
              <a:t>Team: Osama Haider  &amp;  Saba Al-wesabi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88952" cy="54864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Problem Statement &amp;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28016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E75B6"/>
                </a:solidFill>
              </a:rPr>
              <a:t>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691640"/>
            <a:ext cx="53949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</a:rPr>
              <a:t>▸  Campus rooms need constant environmental monitoring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</a:rPr>
              <a:t>▸  Physical hardware is costly &amp; complex for academic projects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</a:rPr>
              <a:t>▸  No existing low-cost simulation-based IoT demo for smart campus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28016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E75B6"/>
                </a:solidFill>
              </a:rPr>
              <a:t>Objectives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91640"/>
            <a:ext cx="53949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</a:rPr>
              <a:t>▸  Simulate 7 virtual IoT devices with 5 sensor types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</a:rPr>
              <a:t>▸  Publish telemetry via MQTT (publish/subscribe)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</a:rPr>
              <a:t>▸  Validate, process, and generate alerts at edge layer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</a:rPr>
              <a:t>▸  Visualize live data on Node-RED Dashboard</a:t>
            </a:r>
          </a:p>
          <a:p>
            <a:pPr algn="l">
              <a:spcAft>
                <a:spcPts val="600"/>
              </a:spcAft>
            </a:pPr>
            <a:r>
              <a:rPr sz="1500">
                <a:solidFill>
                  <a:srgbClr val="1A1A2E"/>
                </a:solidFill>
              </a:rPr>
              <a:t>▸  Apply basic IoT security controls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5120640"/>
            <a:ext cx="11430000" cy="1371600"/>
          </a:xfrm>
          <a:prstGeom prst="rect">
            <a:avLst/>
          </a:prstGeom>
          <a:solidFill>
            <a:srgbClr val="BDD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516636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A1A2E"/>
                </a:solidFill>
              </a:rPr>
              <a:t>Scenario: Smart Campus Environment Monitoring — Halls, Server Room, Lab, Office
No physical hardware required — 100% software simulation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88952" cy="54864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System Architecture — 4-Tier IoT Stack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280160"/>
            <a:ext cx="2743200" cy="50292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1298448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Perception Layer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783080"/>
            <a:ext cx="2743200" cy="1280160"/>
          </a:xfrm>
          <a:prstGeom prst="rect">
            <a:avLst/>
          </a:prstGeom>
          <a:solidFill>
            <a:srgbClr val="BDD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59" y="1810512"/>
            <a:ext cx="265176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7 Virtual Devices (Python)
Temp | Humidity | Occupancy | Light | Air Quality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21945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E75B6"/>
                </a:solidFill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64408" y="1280160"/>
            <a:ext cx="2743200" cy="502920"/>
          </a:xfrm>
          <a:prstGeom prst="rect">
            <a:avLst/>
          </a:prstGeom>
          <a:solidFill>
            <a:srgbClr val="107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64408" y="1298448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Network Layer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64408" y="1783080"/>
            <a:ext cx="2743200" cy="1280160"/>
          </a:xfrm>
          <a:prstGeom prst="rect">
            <a:avLst/>
          </a:prstGeom>
          <a:solidFill>
            <a:srgbClr val="BDD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10128" y="1810512"/>
            <a:ext cx="265176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MQTT via HiveMQ Public Broker
Topic: campus/{building}/{room}/{deviceId}/telemetry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61888" y="21945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E75B6"/>
                </a:solidFill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08776" y="1280160"/>
            <a:ext cx="2743200" cy="502920"/>
          </a:xfrm>
          <a:prstGeom prst="rect">
            <a:avLst/>
          </a:prstGeom>
          <a:solidFill>
            <a:srgbClr val="7B28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08776" y="1298448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Processing Layer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08776" y="1783080"/>
            <a:ext cx="2743200" cy="1280160"/>
          </a:xfrm>
          <a:prstGeom prst="rect">
            <a:avLst/>
          </a:prstGeom>
          <a:solidFill>
            <a:srgbClr val="BDD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54496" y="1810512"/>
            <a:ext cx="265176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subscriber.py — Validation + Derived Values + Alerts
Excel export with retry logic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06256" y="219456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E75B6"/>
                </a:solidFill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53144" y="1280160"/>
            <a:ext cx="2743200" cy="5029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53144" y="1298448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Application Layer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53144" y="1783080"/>
            <a:ext cx="2743200" cy="1280160"/>
          </a:xfrm>
          <a:prstGeom prst="rect">
            <a:avLst/>
          </a:prstGeom>
          <a:solidFill>
            <a:srgbClr val="BDD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98864" y="1810512"/>
            <a:ext cx="265176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Node-RED Dashboard
Live gauges, line chart, alert display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329184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2E75B6"/>
                </a:solidFill>
              </a:rPr>
              <a:t>Data Flow:  Virtual Devices  →  MQTT Publish  →  Subscriber Validation &amp; Analytics  →  Dashboard Display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3749039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A1A2E"/>
                </a:solidFill>
              </a:rPr>
              <a:t>Key Design Decision: Simulation-only approach — identical behaviour to real hardware without cost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0040" y="4343400"/>
            <a:ext cx="2286000" cy="347472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59" y="4379976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Device ID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697480" y="4343400"/>
            <a:ext cx="2560320" cy="347472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743200" y="4379976"/>
            <a:ext cx="24688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Location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349240" y="4343400"/>
            <a:ext cx="5029200" cy="347472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394959" y="4379976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Sensors Monitored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0040" y="4690872"/>
            <a:ext cx="2286000" cy="347472"/>
          </a:xfrm>
          <a:prstGeom prst="rect">
            <a:avLst/>
          </a:prstGeom>
          <a:solidFill>
            <a:srgbClr val="BDD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5759" y="4727448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</a:rPr>
              <a:t>hall_1_1 – 1_4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697480" y="4690872"/>
            <a:ext cx="2560320" cy="347472"/>
          </a:xfrm>
          <a:prstGeom prst="rect">
            <a:avLst/>
          </a:prstGeom>
          <a:solidFill>
            <a:srgbClr val="BDD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743200" y="4727448"/>
            <a:ext cx="24688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</a:rPr>
              <a:t>Floor 1 (4 Halls)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349240" y="4690872"/>
            <a:ext cx="5029200" cy="347472"/>
          </a:xfrm>
          <a:prstGeom prst="rect">
            <a:avLst/>
          </a:prstGeom>
          <a:solidFill>
            <a:srgbClr val="BDD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394959" y="4727448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</a:rPr>
              <a:t>Temp, Humidity, Occupancy, Light, Air Quality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20040" y="5038344"/>
            <a:ext cx="22860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65759" y="507492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</a:rPr>
              <a:t>server_room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697480" y="5038344"/>
            <a:ext cx="256032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743200" y="5074920"/>
            <a:ext cx="24688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</a:rPr>
              <a:t>IT Building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349240" y="5038344"/>
            <a:ext cx="50292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394959" y="507492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</a:rPr>
              <a:t>Temp (critical), Air Quality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20040" y="5385816"/>
            <a:ext cx="2286000" cy="347472"/>
          </a:xfrm>
          <a:prstGeom prst="rect">
            <a:avLst/>
          </a:prstGeom>
          <a:solidFill>
            <a:srgbClr val="BDD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65759" y="5422392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</a:rPr>
              <a:t>lab1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697480" y="5385816"/>
            <a:ext cx="2560320" cy="347472"/>
          </a:xfrm>
          <a:prstGeom prst="rect">
            <a:avLst/>
          </a:prstGeom>
          <a:solidFill>
            <a:srgbClr val="BDD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743200" y="5422392"/>
            <a:ext cx="24688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</a:rPr>
              <a:t>Engineering Bldg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349240" y="5385816"/>
            <a:ext cx="5029200" cy="347472"/>
          </a:xfrm>
          <a:prstGeom prst="rect">
            <a:avLst/>
          </a:prstGeom>
          <a:solidFill>
            <a:srgbClr val="BDD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394959" y="5422392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</a:rPr>
              <a:t>Temp, Air Quality (chemicals risk)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20040" y="5733288"/>
            <a:ext cx="22860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65759" y="5769864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</a:rPr>
              <a:t>office1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697480" y="5733288"/>
            <a:ext cx="256032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743200" y="5769864"/>
            <a:ext cx="24688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</a:rPr>
              <a:t>Admin Building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49240" y="5733288"/>
            <a:ext cx="502920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394959" y="5769864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</a:rPr>
              <a:t>Occupancy, Light (energy saving)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88952" cy="54864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Wireless Model &amp; MQTT Communication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23444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E75B6"/>
                </a:solidFill>
              </a:rPr>
              <a:t>Wireless: IEEE 802.15.4 / Zigbee-like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691640"/>
            <a:ext cx="54864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</a:rPr>
              <a:t>▸  Low power — ideal for battery-powered room sensors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</a:rPr>
              <a:t>▸  2.4 GHz ISM band, indoor range 10–100 m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</a:rPr>
              <a:t>▸  Mesh topology — suitable for multi-room campus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</a:rPr>
              <a:t>▸  Packet Loss (5%), Random Delay (50–350 ms)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</a:rPr>
              <a:t>▸  RSSI &amp; Link Quality simulated per message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</a:rPr>
              <a:t>▸  Battery drain modelled per transmission (mWh)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4434840"/>
            <a:ext cx="1645920" cy="310896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2336" y="4462272"/>
            <a:ext cx="15727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Feature</a:t>
            </a:r>
          </a:p>
        </p:txBody>
      </p:sp>
      <p:sp>
        <p:nvSpPr>
          <p:cNvPr id="9" name="Rectangle 8"/>
          <p:cNvSpPr/>
          <p:nvPr/>
        </p:nvSpPr>
        <p:spPr>
          <a:xfrm>
            <a:off x="2057400" y="4434840"/>
            <a:ext cx="1417320" cy="310896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93976" y="4462272"/>
            <a:ext cx="13441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Zigbee ✓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20440" y="4434840"/>
            <a:ext cx="1234440" cy="310896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57016" y="4462272"/>
            <a:ext cx="116128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Wi-Fi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00600" y="4434840"/>
            <a:ext cx="1417320" cy="310896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37176" y="4462272"/>
            <a:ext cx="13441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LoRaWAN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4745736"/>
            <a:ext cx="1645920" cy="310896"/>
          </a:xfrm>
          <a:prstGeom prst="rect">
            <a:avLst/>
          </a:prstGeom>
          <a:solidFill>
            <a:srgbClr val="BDD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02336" y="4773168"/>
            <a:ext cx="15727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</a:rPr>
              <a:t>Power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057400" y="4745736"/>
            <a:ext cx="1417320" cy="310896"/>
          </a:xfrm>
          <a:prstGeom prst="rect">
            <a:avLst/>
          </a:prstGeom>
          <a:solidFill>
            <a:srgbClr val="BDD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093976" y="4773168"/>
            <a:ext cx="13441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</a:rPr>
              <a:t>Very Low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520440" y="4745736"/>
            <a:ext cx="1234440" cy="310896"/>
          </a:xfrm>
          <a:prstGeom prst="rect">
            <a:avLst/>
          </a:prstGeom>
          <a:solidFill>
            <a:srgbClr val="BDD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557016" y="4773168"/>
            <a:ext cx="116128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</a:rPr>
              <a:t>High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00600" y="4745736"/>
            <a:ext cx="1417320" cy="310896"/>
          </a:xfrm>
          <a:prstGeom prst="rect">
            <a:avLst/>
          </a:prstGeom>
          <a:solidFill>
            <a:srgbClr val="BDD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37176" y="4773168"/>
            <a:ext cx="13441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</a:rPr>
              <a:t>Very Low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5056631"/>
            <a:ext cx="164592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2336" y="5084064"/>
            <a:ext cx="15727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</a:rPr>
              <a:t>Range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057400" y="5056631"/>
            <a:ext cx="141732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093976" y="5084064"/>
            <a:ext cx="13441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</a:rPr>
              <a:t>10–100 m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20440" y="5056631"/>
            <a:ext cx="123444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557016" y="5084064"/>
            <a:ext cx="116128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</a:rPr>
              <a:t>30–50 m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800600" y="5056631"/>
            <a:ext cx="141732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837176" y="5084064"/>
            <a:ext cx="13441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</a:rPr>
              <a:t>1–5 km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5367527"/>
            <a:ext cx="1645920" cy="310896"/>
          </a:xfrm>
          <a:prstGeom prst="rect">
            <a:avLst/>
          </a:prstGeom>
          <a:solidFill>
            <a:srgbClr val="BDD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02336" y="5394959"/>
            <a:ext cx="15727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</a:rPr>
              <a:t>Data Rate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057400" y="5367527"/>
            <a:ext cx="1417320" cy="310896"/>
          </a:xfrm>
          <a:prstGeom prst="rect">
            <a:avLst/>
          </a:prstGeom>
          <a:solidFill>
            <a:srgbClr val="BDD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093976" y="5394959"/>
            <a:ext cx="13441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</a:rPr>
              <a:t>250 kbps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520440" y="5367527"/>
            <a:ext cx="1234440" cy="310896"/>
          </a:xfrm>
          <a:prstGeom prst="rect">
            <a:avLst/>
          </a:prstGeom>
          <a:solidFill>
            <a:srgbClr val="BDD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557016" y="5394959"/>
            <a:ext cx="116128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</a:rPr>
              <a:t>10+ Gbps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800600" y="5367527"/>
            <a:ext cx="1417320" cy="310896"/>
          </a:xfrm>
          <a:prstGeom prst="rect">
            <a:avLst/>
          </a:prstGeom>
          <a:solidFill>
            <a:srgbClr val="BDD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837176" y="5394959"/>
            <a:ext cx="13441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</a:rPr>
              <a:t>&lt;50 kbps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65760" y="5678424"/>
            <a:ext cx="164592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02336" y="5705856"/>
            <a:ext cx="15727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</a:rPr>
              <a:t>Campus Fit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057400" y="5678424"/>
            <a:ext cx="141732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093976" y="5705856"/>
            <a:ext cx="13441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</a:rPr>
              <a:t>Optimal ✅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520440" y="5678424"/>
            <a:ext cx="123444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557016" y="5705856"/>
            <a:ext cx="116128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</a:rPr>
              <a:t>Medium ⚠️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800600" y="5678424"/>
            <a:ext cx="1417320" cy="31089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837176" y="5705856"/>
            <a:ext cx="13441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</a:rPr>
              <a:t>Low ❌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123444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E75B6"/>
                </a:solidFill>
              </a:rPr>
              <a:t>MQTT Protocol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92240" y="1691640"/>
            <a:ext cx="53035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</a:rPr>
              <a:t>▸  Publish/Subscribe — lightweight vs HTTP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</a:rPr>
              <a:t>▸  HiveMQ Public Broker (no setup needed)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</a:rPr>
              <a:t>▸  Topic hierarchy: campus/{building}/{room}/{deviceId}/telemetry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</a:rPr>
              <a:t>▸  Wildcard subscription: campus/+/+/+/telemetry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</a:rPr>
              <a:t>▸  QoS 0 — fire &amp; forget (matches Zigbee model)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</a:rPr>
              <a:t>▸  JSON payload: deviceId, timestamp, sensors, wireless metrics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492240" y="4663440"/>
            <a:ext cx="5303520" cy="868680"/>
          </a:xfrm>
          <a:prstGeom prst="rect">
            <a:avLst/>
          </a:prstGeom>
          <a:solidFill>
            <a:srgbClr val="BDD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583680" y="4690872"/>
            <a:ext cx="512064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2E"/>
                </a:solidFill>
              </a:rPr>
              <a:t>Topic example:
campus/floor_1/hall_1_1/hall_1_1/telemetry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88952" cy="54864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Edge Processing, Alert Rules &amp;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2344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E75B6"/>
                </a:solidFill>
              </a:rPr>
              <a:t>Derived Values (subscriber.py)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691640"/>
            <a:ext cx="2286000" cy="3657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728216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comfort_index</a:t>
            </a:r>
          </a:p>
        </p:txBody>
      </p:sp>
      <p:sp>
        <p:nvSpPr>
          <p:cNvPr id="8" name="Rectangle 7"/>
          <p:cNvSpPr/>
          <p:nvPr/>
        </p:nvSpPr>
        <p:spPr>
          <a:xfrm>
            <a:off x="2651760" y="1691640"/>
            <a:ext cx="3200400" cy="365760"/>
          </a:xfrm>
          <a:prstGeom prst="rect">
            <a:avLst/>
          </a:prstGeom>
          <a:solidFill>
            <a:srgbClr val="BDD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97480" y="1728216"/>
            <a:ext cx="3108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Temp + (Humidity / 100 × 5)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103120"/>
            <a:ext cx="2286000" cy="3657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2139696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occupancy_status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51760" y="2103120"/>
            <a:ext cx="3200400" cy="365760"/>
          </a:xfrm>
          <a:prstGeom prst="rect">
            <a:avLst/>
          </a:prstGeom>
          <a:solidFill>
            <a:srgbClr val="BDD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97480" y="2139696"/>
            <a:ext cx="3108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OCCUPIED / EMPTY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514600"/>
            <a:ext cx="2286000" cy="3657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2551176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air_quality_status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651760" y="2514600"/>
            <a:ext cx="3200400" cy="365760"/>
          </a:xfrm>
          <a:prstGeom prst="rect">
            <a:avLst/>
          </a:prstGeom>
          <a:solidFill>
            <a:srgbClr val="BDD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697480" y="2551176"/>
            <a:ext cx="3108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GOOD ≤80 / MODERATE ≤120 / POOR &gt;120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926080"/>
            <a:ext cx="2286000" cy="3657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80" y="2962656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high_temp_flag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651760" y="2926080"/>
            <a:ext cx="3200400" cy="365760"/>
          </a:xfrm>
          <a:prstGeom prst="rect">
            <a:avLst/>
          </a:prstGeom>
          <a:solidFill>
            <a:srgbClr val="BDD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697480" y="2962656"/>
            <a:ext cx="3108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True when Temp &gt; 35°C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36576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E75B6"/>
                </a:solidFill>
              </a:rPr>
              <a:t>Alert Rules (≥ 3 required — 5 implemented)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4069080"/>
            <a:ext cx="5486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</a:rPr>
              <a:t>▸  temperature &gt; 35°C  →  High Temperature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</a:rPr>
              <a:t>▸  occupancy = 0 AND light &gt; 60  →  Empty room, lights on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</a:rPr>
              <a:t>▸  air_quality &gt; 120  →  Poor Air Quality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</a:rPr>
              <a:t>▸  humidity &gt; 80%  →  Abnormal Humidity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</a:rPr>
              <a:t>▸  battery &lt; 20%  →  Low Battery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12344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E75B6"/>
                </a:solidFill>
              </a:rPr>
              <a:t>Security Controls (≥ 2 required — 5 implemented)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1691640"/>
            <a:ext cx="5486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</a:rPr>
              <a:t>▸  Input Validation — rejects invalid/incomplete JSON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</a:rPr>
              <a:t>▸  Topic Naming Policy — only campus/+/+/+/telemetry accepted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</a:rPr>
              <a:t>▸  Log Sanitization — removes unsafe characters before printing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</a:rPr>
              <a:t>▸  Config Isolation — credentials in config.json (not hardcoded)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</a:rPr>
              <a:t>▸  Strict Topic Isolation — device ID locked to its own topic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45720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E75B6"/>
                </a:solidFill>
              </a:rPr>
              <a:t>Reliability Features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4983480"/>
            <a:ext cx="54864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</a:rPr>
              <a:t>▸  3-retry logic when Excel file is locked (Windows)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</a:rPr>
              <a:t>▸  on_disconnect callback for broker failure detection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</a:rPr>
              <a:t>▸  Packet loss simulation (5%) — subscriber stays stable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88952" cy="54864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Dashboard &amp; Testing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2344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E75B6"/>
                </a:solidFill>
              </a:rPr>
              <a:t>Node-RED Dashboard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664208"/>
            <a:ext cx="53949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</a:rPr>
              <a:t>▸  Temperature Gauge — live per device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</a:rPr>
              <a:t>▸  Humidity Gauge — live per device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</a:rPr>
              <a:t>▸  Occupancy Gauge — live per device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</a:rPr>
              <a:t>▸  Alert Text Widget — latest alert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</a:rPr>
              <a:t>▸  Temperature Line Chart — historical trend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</a:rPr>
              <a:t>▸  URL: http://localhost:1880/ui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45720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E75B6"/>
                </a:solidFill>
              </a:rPr>
              <a:t>Excel Export (campus_telemetry.xlsx)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4983480"/>
            <a:ext cx="5486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</a:rPr>
              <a:t>▸  17 columns: all sensor values + derived + alerts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</a:rPr>
              <a:t>▸  Appended continuously — persistent history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2344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E75B6"/>
                </a:solidFill>
              </a:rPr>
              <a:t>Test Cases (4 executed)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691640"/>
            <a:ext cx="822960" cy="420624"/>
          </a:xfrm>
          <a:prstGeom prst="rect">
            <a:avLst/>
          </a:prstGeom>
          <a:solidFill>
            <a:srgbClr val="BDD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37376" y="1737360"/>
            <a:ext cx="7498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2E"/>
                </a:solidFill>
              </a:rPr>
              <a:t>TC-1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0" y="1691640"/>
            <a:ext cx="2834640" cy="420624"/>
          </a:xfrm>
          <a:prstGeom prst="rect">
            <a:avLst/>
          </a:prstGeom>
          <a:solidFill>
            <a:srgbClr val="BDD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51775" y="1737360"/>
            <a:ext cx="27614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2E"/>
                </a:solidFill>
              </a:rPr>
              <a:t>Normal Telemetry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241280" y="1691640"/>
            <a:ext cx="1371600" cy="420624"/>
          </a:xfrm>
          <a:prstGeom prst="rect">
            <a:avLst/>
          </a:prstGeom>
          <a:solidFill>
            <a:srgbClr val="BDD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7855" y="1737360"/>
            <a:ext cx="12984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2E"/>
                </a:solidFill>
              </a:rPr>
              <a:t>✅ Pass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2148840"/>
            <a:ext cx="822960" cy="420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37376" y="2194560"/>
            <a:ext cx="7498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2E"/>
                </a:solidFill>
              </a:rPr>
              <a:t>TC-2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0" y="2148840"/>
            <a:ext cx="2834640" cy="420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51775" y="2194560"/>
            <a:ext cx="27614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2E"/>
                </a:solidFill>
              </a:rPr>
              <a:t>Missing Field Rejected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241280" y="2148840"/>
            <a:ext cx="1371600" cy="420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77855" y="2194560"/>
            <a:ext cx="12984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2E"/>
                </a:solidFill>
              </a:rPr>
              <a:t>✅ Pass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0" y="2606040"/>
            <a:ext cx="822960" cy="420624"/>
          </a:xfrm>
          <a:prstGeom prst="rect">
            <a:avLst/>
          </a:prstGeom>
          <a:solidFill>
            <a:srgbClr val="BDD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37376" y="2651760"/>
            <a:ext cx="7498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2E"/>
                </a:solidFill>
              </a:rPr>
              <a:t>TC-3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0" y="2606040"/>
            <a:ext cx="2834640" cy="420624"/>
          </a:xfrm>
          <a:prstGeom prst="rect">
            <a:avLst/>
          </a:prstGeom>
          <a:solidFill>
            <a:srgbClr val="BDD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51775" y="2651760"/>
            <a:ext cx="27614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2E"/>
                </a:solidFill>
              </a:rPr>
              <a:t>High Temp Alert (38°C)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241280" y="2606040"/>
            <a:ext cx="1371600" cy="420624"/>
          </a:xfrm>
          <a:prstGeom prst="rect">
            <a:avLst/>
          </a:prstGeom>
          <a:solidFill>
            <a:srgbClr val="BDD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277855" y="2651760"/>
            <a:ext cx="12984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2E"/>
                </a:solidFill>
              </a:rPr>
              <a:t>✅ Pass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0" y="3063240"/>
            <a:ext cx="822960" cy="420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37376" y="3108960"/>
            <a:ext cx="7498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1A2E"/>
                </a:solidFill>
              </a:rPr>
              <a:t>TC-4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15200" y="3063240"/>
            <a:ext cx="2834640" cy="420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51775" y="3108960"/>
            <a:ext cx="27614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2E"/>
                </a:solidFill>
              </a:rPr>
              <a:t>Broker Disconnection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241280" y="3063240"/>
            <a:ext cx="1371600" cy="4206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277855" y="3108960"/>
            <a:ext cx="12984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2E"/>
                </a:solidFill>
              </a:rPr>
              <a:t>✅ Pass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0" y="3794760"/>
            <a:ext cx="5303520" cy="2651760"/>
          </a:xfrm>
          <a:prstGeom prst="rect">
            <a:avLst/>
          </a:prstGeom>
          <a:solidFill>
            <a:srgbClr val="BDD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92240" y="3840480"/>
            <a:ext cx="51206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</a:rPr>
              <a:t>Manual Test Command (mosquitto_pub):
mosquitto_pub -h broker.hivemq.com \
  -t "campus/it_building/server_room/..." \
  -m '{"temperature":38,...}'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88952" cy="54864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Conclusion &amp; Future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23444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E75B6"/>
                </a:solidFill>
              </a:rPr>
              <a:t>What We Achieved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691640"/>
            <a:ext cx="53949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</a:rPr>
              <a:t>▸  7 virtual IoT devices — 5 sensor types each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</a:rPr>
              <a:t>▸  Full MQTT pipeline: publish → subscribe → alert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</a:rPr>
              <a:t>▸  Edge validation + 4 derived analytics values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</a:rPr>
              <a:t>▸  5 smart alert rules implemented &amp; tested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</a:rPr>
              <a:t>▸  Node-RED live dashboard + Excel persistent log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</a:rPr>
              <a:t>▸  5 security controls (topic policy, validation, sanitization…)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</a:rPr>
              <a:t>▸  IEEE 802.15.4/Zigbee-like wireless model simulated in Python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0" y="123444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E75B6"/>
                </a:solidFill>
              </a:rPr>
              <a:t>Future 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691640"/>
            <a:ext cx="53949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</a:rPr>
              <a:t>▸  Replace Excel with InfluxDB / SQLite time-series database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</a:rPr>
              <a:t>▸  Add TLS encryption + MQTT client authentication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</a:rPr>
              <a:t>▸  Custom web dashboard with real-time WebSocket updates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</a:rPr>
              <a:t>▸  Predictive analytics using ML for temperature forecasting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</a:rPr>
              <a:t>▸  Device registration system with role-based topic permissions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1A1A2E"/>
                </a:solidFill>
              </a:rPr>
              <a:t>▸  Private MQTT broker (Mosquitto) with full ACL control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5074920"/>
            <a:ext cx="11430000" cy="14630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5120640"/>
            <a:ext cx="11064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</a:rPr>
              <a:t>"This project demonstrated that a fully functional IoT system can be built and validated
entirely through software simulation — without any physical hardware."
Thank you  |  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