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Smart Campus IoT
Simulation &amp;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Internet of Things Course Project  |  Master of IT
Sana'a University  |  Dr. Ammar Zahary  |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0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FFFFFF"/>
                </a:solidFill>
              </a:rPr>
              <a:t>Team: </a:t>
            </a:r>
            <a:r>
              <a:rPr lang="en-US" sz="1600" dirty="0">
                <a:solidFill>
                  <a:srgbClr val="FFFFFF"/>
                </a:solidFill>
              </a:rPr>
              <a:t>Saba Al-</a:t>
            </a:r>
            <a:r>
              <a:rPr lang="en-US" sz="1600" dirty="0" err="1">
                <a:solidFill>
                  <a:srgbClr val="FFFFFF"/>
                </a:solidFill>
              </a:rPr>
              <a:t>wesabi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sz="1600" b="0" dirty="0">
                <a:solidFill>
                  <a:srgbClr val="FFFFFF"/>
                </a:solidFill>
              </a:rPr>
              <a:t>&amp;</a:t>
            </a:r>
            <a:r>
              <a:rPr lang="ar-SA" sz="1600" b="0" dirty="0">
                <a:solidFill>
                  <a:srgbClr val="FFFFFF"/>
                </a:solidFill>
              </a:rPr>
              <a:t> </a:t>
            </a:r>
            <a:r>
              <a:rPr lang="en-US" sz="1600" dirty="0">
                <a:solidFill>
                  <a:srgbClr val="FFFFFF"/>
                </a:solidFill>
              </a:rPr>
              <a:t>Osama Haider </a:t>
            </a:r>
            <a:endParaRPr sz="1600"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39496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</a:rPr>
              <a:t>▸  Campus rooms need constant environmental monitoring</a:t>
            </a: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</a:rPr>
              <a:t>▸  Physical hardware is costly &amp; complex for academic projects</a:t>
            </a: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</a:rPr>
              <a:t>▸  No existing low-cost simulation-based IoT demo for smart 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3949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</a:rPr>
              <a:t>▸  Simulate 7 virtual IoT devices with 5 sensor types</a:t>
            </a: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</a:rPr>
              <a:t>▸  Publish telemetry via MQTT (publish/subscribe)</a:t>
            </a: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</a:rPr>
              <a:t>▸  Validate, process, and generate alerts at edge layer</a:t>
            </a: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</a:rPr>
              <a:t>▸  Visualize live data on Node-RED Dashboard</a:t>
            </a: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</a:rPr>
              <a:t>▸  Apply basic IoT security controls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185" y="4772947"/>
            <a:ext cx="11430000" cy="13716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Scenario: Smart Campus Environment Monitoring — Halls, Server Room, Lab, Office
No physical hardware required — 100% software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System Architecture — 4-Tier IoT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7432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20040" y="136573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Perception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2743200" cy="12801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65759" y="1810512"/>
            <a:ext cx="2651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A1A2E"/>
                </a:solidFill>
              </a:rPr>
              <a:t>7 Virtual Devices (Python)
Temp | Humidity | Occupancy | Light | Air 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280160"/>
            <a:ext cx="2743200" cy="502920"/>
          </a:xfrm>
          <a:prstGeom prst="rect">
            <a:avLst/>
          </a:prstGeom>
          <a:solidFill>
            <a:srgbClr val="1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3264408" y="1377732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Network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783080"/>
            <a:ext cx="2743200" cy="12801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3310128" y="1810512"/>
            <a:ext cx="2651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MQTT via HiveMQ Public Broker
Topic: campus/{building}/{room}/{deviceId}/telemetry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280160"/>
            <a:ext cx="2743200" cy="502920"/>
          </a:xfrm>
          <a:prstGeom prst="rect">
            <a:avLst/>
          </a:prstGeom>
          <a:solidFill>
            <a:srgbClr val="7B2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208776" y="1377732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Processing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783080"/>
            <a:ext cx="2743200" cy="12801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254496" y="1810512"/>
            <a:ext cx="2651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subscriber.py — Validation + Derived Values + Alerts
Excel export with retry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280160"/>
            <a:ext cx="274320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9153144" y="1347287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1783080"/>
            <a:ext cx="2743200" cy="12801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198864" y="1810512"/>
            <a:ext cx="2651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Node-RED Dashboard
Live gauges, line chart, alert 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75B6"/>
                </a:solidFill>
              </a:rPr>
              <a:t>Data Flow:  Virtual Devices  →  MQTT Publish  →  Subscriber Validation &amp; Analytics  →  Dashboard 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Key Design Decision: Simulation-only approach — identical behaviour to real hardware without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43400"/>
            <a:ext cx="2286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365759" y="4379976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Device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4343400"/>
            <a:ext cx="256032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2743200" y="4379976"/>
            <a:ext cx="246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4343400"/>
            <a:ext cx="50292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5394959" y="4379976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Sensors Monitored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690872"/>
            <a:ext cx="22860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365759" y="4727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hall_1_1 – 1_4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4690872"/>
            <a:ext cx="256032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2743200" y="472744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Floor 1 (4 Halls)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4690872"/>
            <a:ext cx="50292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5394959" y="47274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Temp, Humidity, Occupancy, Light, Air Quality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038344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365759" y="5074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server_room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5038344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2743200" y="50749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IT Building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49240" y="5038344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5394959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Temp (critical), Air Quality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385816"/>
            <a:ext cx="22860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365759" y="5422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lab1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97480" y="5385816"/>
            <a:ext cx="256032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7" name="TextBox 46"/>
          <p:cNvSpPr txBox="1"/>
          <p:nvPr/>
        </p:nvSpPr>
        <p:spPr>
          <a:xfrm>
            <a:off x="2743200" y="542239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Engineering Bldg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5385816"/>
            <a:ext cx="50292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9" name="TextBox 48"/>
          <p:cNvSpPr txBox="1"/>
          <p:nvPr/>
        </p:nvSpPr>
        <p:spPr>
          <a:xfrm>
            <a:off x="5394959" y="54223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Temp, Air Quality (chemicals risk)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733288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1" name="TextBox 50"/>
          <p:cNvSpPr txBox="1"/>
          <p:nvPr/>
        </p:nvSpPr>
        <p:spPr>
          <a:xfrm>
            <a:off x="365759" y="57698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office1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7480" y="5733288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3" name="TextBox 52"/>
          <p:cNvSpPr txBox="1"/>
          <p:nvPr/>
        </p:nvSpPr>
        <p:spPr>
          <a:xfrm>
            <a:off x="2743200" y="5769864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Admin Building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573328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5" name="TextBox 54"/>
          <p:cNvSpPr txBox="1"/>
          <p:nvPr/>
        </p:nvSpPr>
        <p:spPr>
          <a:xfrm>
            <a:off x="5394959" y="57698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Occupancy, Light (energy saving)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Wireless Model &amp; MQTT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</a:rPr>
              <a:t>Wireless: IEEE 802.15.4 / Zigbee-like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Low power — ideal for battery-powered room sensors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2.4 GHz ISM band, indoor range 10–100 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Mesh topology — suitable for multi-room campus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Packet Loss (5%), Random Delay (50–350 ms)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RSSI &amp; Link Quality simulated per message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Battery drain modelled per transmission (mWh)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434840"/>
            <a:ext cx="1645920" cy="31089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4462272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4434840"/>
            <a:ext cx="1417320" cy="31089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93976" y="4462272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Zigbee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4434840"/>
            <a:ext cx="1234440" cy="31089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57016" y="4462272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Wi-Fi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4434840"/>
            <a:ext cx="1417320" cy="31089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37176" y="4462272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LoRaWAN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45736"/>
            <a:ext cx="1645920" cy="3108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" y="477316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4745736"/>
            <a:ext cx="1417320" cy="3108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93976" y="4773168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Very 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4745736"/>
            <a:ext cx="1234440" cy="3108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57016" y="477316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4745736"/>
            <a:ext cx="1417320" cy="3108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37176" y="4773168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Very 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56631"/>
            <a:ext cx="16459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" y="5084064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5056631"/>
            <a:ext cx="14173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93976" y="5084064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10–100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5056631"/>
            <a:ext cx="12344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57016" y="5084064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30–50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5056631"/>
            <a:ext cx="14173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37176" y="5084064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1–5 km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67527"/>
            <a:ext cx="1645920" cy="3108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" y="5394959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Data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5367527"/>
            <a:ext cx="1417320" cy="3108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93976" y="5394959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250 kbps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5367527"/>
            <a:ext cx="1234440" cy="3108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57016" y="5394959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10+ Gbps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5367527"/>
            <a:ext cx="1417320" cy="3108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37176" y="5394959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&lt;50 kbps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678424"/>
            <a:ext cx="16459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2336" y="570585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Campus Fit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5678424"/>
            <a:ext cx="14173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093976" y="5705856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Optimal 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5678424"/>
            <a:ext cx="12344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57016" y="5705856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Medium ⚠️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5678424"/>
            <a:ext cx="14173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37176" y="5705856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Low 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</a:rPr>
              <a:t>MQTT Protocol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16916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Publish/Subscribe — lightweight vs HTTP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HiveMQ Public Broker (no setup needed)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Topic hierarchy: campus/{building}/{room}/{deviceId}/telemetry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Wildcard subscription: campus/+/+/+/telemetry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QoS 0 — fire &amp; forget (matches Zigbee model)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 JSON payload: deviceId, timestamp, sensors, wireless metrics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663440"/>
            <a:ext cx="5303520" cy="868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0" y="4690872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Topic example:
campus/floor_1/hall_1_1/hall_1_1/telemetry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Edge Processing, Alert Rules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Derived Values (subscriber.py)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2860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411480" y="1728216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comfort_index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691640"/>
            <a:ext cx="3200400" cy="365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2697480" y="1728216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Temp + (Humidity / 100 × 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22860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11480" y="2139696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occupancy_status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103120"/>
            <a:ext cx="3200400" cy="365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2697480" y="2139696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OCCUPIED / EMPTY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22860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11480" y="2551176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air_quality_status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514600"/>
            <a:ext cx="3200400" cy="365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GOOD ≤80 / MODERATE ≤120 / POOR &gt;120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22860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11480" y="2962656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high_temp_flag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926080"/>
            <a:ext cx="3200400" cy="365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2697480" y="2962656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True when Temp &gt; 35°C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Alert Rules (≥ 3 required — 5 implemented)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69080"/>
            <a:ext cx="5486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temperature &gt; 35°C  →  High Temperature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occupancy = 0 AND light &gt; 60  →  Empty room, lights on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air_quality &gt; 120  →  Poor Air Quality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humidity &gt; 80%  →  Abnormal Humidity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battery &lt; 20%  →  Low Battery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Security Controls (≥ 2 required — 5 implemented)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691640"/>
            <a:ext cx="5486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Input Validation — rejects invalid/incomplete JSON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Topic Naming Policy — only campus/+/+/+/telemetry accepted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Log Sanitization — removes unsafe characters before printing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Config Isolation — credentials in config.json (not hardcoded)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Strict Topic Isolation — device ID locked to its own topic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Reliability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83480"/>
            <a:ext cx="5486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3-retry logic when Excel file is locked (Windows)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on_disconnect callback for broker failure detection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Packet loss simulation (5%) — subscriber stays 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Dashboard &amp; Testing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Node-RED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53949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Temperature Gauge — live per device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Humidity Gauge — live per device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Occupancy Gauge — live per device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Alert Text Widget — latest alert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Temperature Line Chart — historical trend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URL: http://localhost:1880/ui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Excel Export (campus_telemetry.xlsx)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83480"/>
            <a:ext cx="54864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17 columns: all sensor values + derived + alerts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Appended continuously — persistent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Test Cases (4 executed)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822960" cy="42062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437376" y="1737360"/>
            <a:ext cx="74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TC-1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691640"/>
            <a:ext cx="2834640" cy="42062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7351775" y="1737360"/>
            <a:ext cx="2761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Normal Telemetry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1691640"/>
            <a:ext cx="1371600" cy="42062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0277855" y="1737360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✅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48840"/>
            <a:ext cx="822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6437376" y="2194560"/>
            <a:ext cx="74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TC-2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148840"/>
            <a:ext cx="2834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7351775" y="2194560"/>
            <a:ext cx="2761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Missing Field Rejected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2148840"/>
            <a:ext cx="1371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10277855" y="2194560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✅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06040"/>
            <a:ext cx="822960" cy="42062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6437376" y="2651760"/>
            <a:ext cx="74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TC-3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606040"/>
            <a:ext cx="2834640" cy="42062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7351775" y="2651760"/>
            <a:ext cx="2761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High Temp Alert (38°C)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2606040"/>
            <a:ext cx="1371600" cy="42062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0277855" y="2651760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✅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063240"/>
            <a:ext cx="822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6437376" y="3108960"/>
            <a:ext cx="74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TC-4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063240"/>
            <a:ext cx="2834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7351775" y="3108960"/>
            <a:ext cx="2761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Broker Disconnection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3063240"/>
            <a:ext cx="1371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10277855" y="3108960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✅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794760"/>
            <a:ext cx="5303520" cy="2651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6492240" y="3840480"/>
            <a:ext cx="51206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Manual Test Command (mosquitto_pub):
mosquitto_pub -h broker.hivemq.com \
  -t "campus/it_building/server_room/..." \
  -m '{"temperature":38,...}'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39496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7 virtual IoT devices — 5 sensor types each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Full MQTT pipeline: publish → subscribe → alert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Edge validation + 4 derived analytics values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5 smart alert rules implemented &amp; tested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Node-RED live dashboard + Excel persistent log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5 security controls (topic policy, validation, sanitization…)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IEEE 802.15.4/Zigbee-like wireless model simulated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53949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Replace Excel with InfluxDB / SQLite time-series database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Add TLS encryption + MQTT client authentication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Custom web dashboard with real-time WebSocket updates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Predictive analytics using ML for temperature forecasting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Device registration system with role-based topic permissions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</a:rPr>
              <a:t>▸  Private MQTT broker (Mosquitto) with full ACL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74920"/>
            <a:ext cx="11430000" cy="1463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44312" y="5529103"/>
            <a:ext cx="11064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FFFFFF"/>
                </a:solidFill>
              </a:rPr>
              <a:t>"This project demonstrated that a fully functional IoT system can be built and validated
entirely through software simulation — without any physical hardware."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1011</Words>
  <Application>Microsoft Office PowerPoint</Application>
  <PresentationFormat>Custom</PresentationFormat>
  <Paragraphs>145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Work Saba</cp:lastModifiedBy>
  <cp:revision>3</cp:revision>
  <dcterms:created xsi:type="dcterms:W3CDTF">2013-01-27T09:14:16Z</dcterms:created>
  <dcterms:modified xsi:type="dcterms:W3CDTF">2026-07-23T21:06:35Z</dcterms:modified>
  <cp:category/>
</cp:coreProperties>
</file>